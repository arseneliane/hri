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56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30763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00B4D8">
              <a:alpha val="25000"/>
            </a:srgbClr>
          </a:solidFill>
          <a:ln w="12700">
            <a:solidFill>
              <a:srgbClr val="00B4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731520" y="3200400"/>
            <a:ext cx="2286000" cy="2286000"/>
          </a:xfrm>
          <a:prstGeom prst="ellipse">
            <a:avLst/>
          </a:prstGeom>
          <a:solidFill>
            <a:srgbClr val="00B4D8">
              <a:alpha val="20000"/>
            </a:srgbClr>
          </a:solidFill>
          <a:ln w="12700">
            <a:solidFill>
              <a:srgbClr val="00B4D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dirty="0">
                <a:solidFill>
                  <a:srgbClr val="000000"/>
                </a:solidFill>
              </a:rPr>
              <a:t>🤖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1554480" y="457200"/>
            <a:ext cx="6858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Learning &amp;</a:t>
            </a:r>
            <a:endParaRPr lang="en-US" sz="4000" dirty="0"/>
          </a:p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Recognition Behavior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554480" y="237744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NAO / Pepper Robot  ·  Choregraphe + NAOqi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554480" y="2880360"/>
            <a:ext cx="59436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554480" y="3017520"/>
            <a:ext cx="6583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8E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behavior that learns a face and greets recognized people by name.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4114800"/>
            <a:ext cx="1828800" cy="640080"/>
          </a:xfrm>
          <a:prstGeom prst="roundRect">
            <a:avLst>
              <a:gd name="adj" fmla="val 14286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41148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Edit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377440" y="4114800"/>
            <a:ext cx="320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EACBB"/>
                </a:solidFill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697480" y="4114800"/>
            <a:ext cx="1828800" cy="640080"/>
          </a:xfrm>
          <a:prstGeom prst="roundRect">
            <a:avLst>
              <a:gd name="adj" fmla="val 14286"/>
            </a:avLst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697480" y="41148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Face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26280" y="4114800"/>
            <a:ext cx="320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EACBB"/>
                </a:solidFill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846320" y="4114800"/>
            <a:ext cx="1828800" cy="640080"/>
          </a:xfrm>
          <a:prstGeom prst="roundRect">
            <a:avLst>
              <a:gd name="adj" fmla="val 14286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846320" y="41148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Reco.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675120" y="4114800"/>
            <a:ext cx="320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EACBB"/>
                </a:solidFill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995160" y="4114800"/>
            <a:ext cx="1828800" cy="640080"/>
          </a:xfrm>
          <a:prstGeom prst="roundRect">
            <a:avLst>
              <a:gd name="adj" fmla="val 14286"/>
            </a:avLst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995160" y="41148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Hello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Behavior Flow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1005840"/>
            <a:ext cx="1417320" cy="914400"/>
          </a:xfrm>
          <a:prstGeom prst="roundRect">
            <a:avLst>
              <a:gd name="adj" fmla="val 12000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1005840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onStart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4320" y="141732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691640" y="1005840"/>
            <a:ext cx="137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D1B2A"/>
                </a:solidFill>
              </a:rPr>
              <a:t>→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828800" y="1005840"/>
            <a:ext cx="1417320" cy="914400"/>
          </a:xfrm>
          <a:prstGeom prst="roundRect">
            <a:avLst>
              <a:gd name="adj" fmla="val 12000"/>
            </a:avLst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828800" y="1005840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Edit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828800" y="141732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"antonio"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246120" y="1005840"/>
            <a:ext cx="137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D1B2A"/>
                </a:solidFill>
              </a:rPr>
              <a:t>→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383280" y="1005840"/>
            <a:ext cx="1417320" cy="914400"/>
          </a:xfrm>
          <a:prstGeom prst="roundRect">
            <a:avLst>
              <a:gd name="adj" fmla="val 12000"/>
            </a:avLst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383280" y="1005840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Face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83280" y="141732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5s + camera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00600" y="1005840"/>
            <a:ext cx="137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D1B2A"/>
                </a:solidFill>
              </a:rPr>
              <a:t>→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937760" y="1005840"/>
            <a:ext cx="1417320" cy="914400"/>
          </a:xfrm>
          <a:prstGeom prst="roundRect">
            <a:avLst>
              <a:gd name="adj" fmla="val 12000"/>
            </a:avLst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937760" y="1005840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Reco.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37760" y="141732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937760" y="19202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6D6A0"/>
                </a:solidFill>
              </a:rPr>
              <a:t>↙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852160" y="19202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EF476F"/>
                </a:solidFill>
              </a:rPr>
              <a:t>↘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4206240" y="2331720"/>
            <a:ext cx="1828800" cy="685800"/>
          </a:xfrm>
          <a:prstGeom prst="roundRect">
            <a:avLst>
              <a:gd name="adj" fmla="val 13333"/>
            </a:avLst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206240" y="233172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Known Face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"Hello antonio!"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217920" y="2331720"/>
            <a:ext cx="2103120" cy="685800"/>
          </a:xfrm>
          <a:prstGeom prst="roundRect">
            <a:avLst>
              <a:gd name="adj" fmla="val 13333"/>
            </a:avLst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217920" y="233172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Unknown Face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don't know you"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383280" y="1965960"/>
            <a:ext cx="18288" cy="3200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377440" y="1920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LearnFace result: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286000" y="22402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Eyes GREEN = success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286000" y="25603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Eyes RED = failure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4320" y="3200400"/>
            <a:ext cx="8595360" cy="1645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57200" y="3291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57200" y="365760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ALFaceDetection</a:t>
            </a:r>
            <a:r>
              <a:rPr lang="en-US" sz="1200" dirty="0">
                <a:solidFill>
                  <a:srgbClr val="8E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NAOqi module that handles all face learning &amp; recognition  ·  </a:t>
            </a: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ALMemory FaceDetected</a:t>
            </a:r>
            <a:r>
              <a:rPr lang="en-US" sz="1200" dirty="0">
                <a:solidFill>
                  <a:srgbClr val="8E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event fired every time camera sees a face  ·  </a:t>
            </a: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ALTextToSpeech</a:t>
            </a:r>
            <a:r>
              <a:rPr lang="en-US" sz="1200" dirty="0">
                <a:solidFill>
                  <a:srgbClr val="8E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robot speech output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2286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20040" y="502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Edit Box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2004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E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starting point — assigns a name to the face being learned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600200"/>
            <a:ext cx="4754880" cy="13716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1691640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onInput_onStart(self):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self.onStopped("antonio")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0" y="1600200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🚀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715000" y="1645920"/>
            <a:ext cx="3108960" cy="457200"/>
          </a:xfrm>
          <a:prstGeom prst="rect">
            <a:avLst/>
          </a:prstGeom>
          <a:solidFill>
            <a:srgbClr val="E8F4F8"/>
          </a:solidFill>
          <a:ln w="12700">
            <a:solidFill>
              <a:srgbClr val="E8F4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806440" y="16459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Triggered </a:t>
            </a:r>
            <a:r>
              <a:rPr lang="en-US" sz="1200" dirty="0">
                <a:solidFill>
                  <a:srgbClr val="8E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behavior starts via onStart signal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303520" y="2258568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📛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715000" y="2304288"/>
            <a:ext cx="3108960" cy="457200"/>
          </a:xfrm>
          <a:prstGeom prst="rect">
            <a:avLst/>
          </a:prstGeom>
          <a:solidFill>
            <a:srgbClr val="E8F4F8"/>
          </a:solidFill>
          <a:ln w="12700">
            <a:solidFill>
              <a:srgbClr val="E8F4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806440" y="2304288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name </a:t>
            </a:r>
            <a:r>
              <a:rPr lang="en-US" sz="1200" dirty="0">
                <a:solidFill>
                  <a:srgbClr val="8E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"antonio" immediately to its output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303520" y="2916936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🔗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715000" y="2962656"/>
            <a:ext cx="3108960" cy="457200"/>
          </a:xfrm>
          <a:prstGeom prst="rect">
            <a:avLst/>
          </a:prstGeom>
          <a:solidFill>
            <a:srgbClr val="E8F4F8"/>
          </a:solidFill>
          <a:ln w="12700">
            <a:solidFill>
              <a:srgbClr val="E8F4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806440" y="2962656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Passes name </a:t>
            </a:r>
            <a:r>
              <a:rPr lang="en-US" sz="1200" dirty="0">
                <a:solidFill>
                  <a:srgbClr val="8E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to the LearnFace box input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303520" y="3575304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💡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715000" y="3621024"/>
            <a:ext cx="3108960" cy="457200"/>
          </a:xfrm>
          <a:prstGeom prst="rect">
            <a:avLst/>
          </a:prstGeom>
          <a:solidFill>
            <a:srgbClr val="E8F4F8"/>
          </a:solidFill>
          <a:ln w="12700">
            <a:solidFill>
              <a:srgbClr val="E8F4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806440" y="3621024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Easily changed </a:t>
            </a:r>
            <a:r>
              <a:rPr lang="en-US" sz="1200" dirty="0">
                <a:solidFill>
                  <a:srgbClr val="8E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any name — just edit the Text Edit plugin value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0040" y="4434840"/>
            <a:ext cx="8503920" cy="457200"/>
          </a:xfrm>
          <a:prstGeom prst="rect">
            <a:avLst/>
          </a:prstGeom>
          <a:solidFill>
            <a:srgbClr val="E8F4F8"/>
          </a:solidFill>
          <a:ln w="12700">
            <a:solidFill>
              <a:srgbClr val="E8F4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57200" y="4462272"/>
            <a:ext cx="8321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this box as telling the robot: "The person you're about to see is called antonio"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LearnFace Sub-Behavior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E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internal boxes work together to safely learn a face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508760"/>
            <a:ext cx="1554480" cy="118872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15087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" y="150876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Once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" y="192024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learning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 just once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828800" y="1737360"/>
            <a:ext cx="182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B4D8"/>
                </a:solidFill>
              </a:rPr>
              <a:t>→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011680" y="1508760"/>
            <a:ext cx="1554480" cy="118872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011680" y="15087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011680" y="150876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5s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011680" y="192024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positions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front of camera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566160" y="1737360"/>
            <a:ext cx="182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B4D8"/>
                </a:solidFill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749040" y="1508760"/>
            <a:ext cx="1554480" cy="1188720"/>
          </a:xfrm>
          <a:prstGeom prst="rect">
            <a:avLst/>
          </a:prstGeom>
          <a:solidFill>
            <a:srgbClr val="005F8A"/>
          </a:solidFill>
          <a:ln w="12700">
            <a:solidFill>
              <a:srgbClr val="005F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749040" y="15087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749040" y="150876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Eyes LEDs 🔵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749040" y="192024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eyes = robot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getting ready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303520" y="1737360"/>
            <a:ext cx="182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B4D8"/>
                </a:solidFill>
              </a:rPr>
              <a:t>→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0" y="1508760"/>
            <a:ext cx="1554480" cy="118872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486400" y="15087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0" y="150876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WaitToSend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0" y="192024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Syncs name + timer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learning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040880" y="1737360"/>
            <a:ext cx="182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B4D8"/>
                </a:solidFill>
              </a:rPr>
              <a:t>→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223760" y="1508760"/>
            <a:ext cx="1554480" cy="1188720"/>
          </a:xfrm>
          <a:prstGeom prst="rect">
            <a:avLst/>
          </a:prstGeom>
          <a:solidFill>
            <a:srgbClr val="00507A"/>
          </a:solidFill>
          <a:ln w="12700">
            <a:solidFill>
              <a:srgbClr val="0050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223760" y="15087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223760" y="150876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learnFace()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223760" y="192024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ALFaceDetection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the face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29260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1554480" y="2880360"/>
            <a:ext cx="3200400" cy="457200"/>
          </a:xfrm>
          <a:prstGeom prst="roundRect">
            <a:avLst>
              <a:gd name="adj" fmla="val 16000"/>
            </a:avLst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1554480" y="28803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Eyes GREEN — Face stored in database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937760" y="2880360"/>
            <a:ext cx="3200400" cy="457200"/>
          </a:xfrm>
          <a:prstGeom prst="roundRect">
            <a:avLst>
              <a:gd name="adj" fmla="val 16000"/>
            </a:avLst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937760" y="28803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Eyes RED — No face detected / failed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57200" y="3520440"/>
            <a:ext cx="8229600" cy="1371600"/>
          </a:xfrm>
          <a:prstGeom prst="rect">
            <a:avLst/>
          </a:prstGeom>
          <a:solidFill>
            <a:srgbClr val="0A1520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48640" y="354787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 Core — learnFace() call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48640" y="3822192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self.faceDetectionModule.learnFace(p)   # p = "antonio"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result:  self.onSuccess()    # Eyes GREEN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else:       self.onFailure()    # Eyes RED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2286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20040" y="502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Reco. Box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20040" y="11887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20040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👁️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164592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Subscribes to ALMemory FaceDetected event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2148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📊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219456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threshold set to 0.8 (80%)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0040" y="2697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🔍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2960" y="274320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Parses nested face data array from camera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0040" y="3246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2960" y="329184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face → fires onRecognizedFace(name)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0040" y="3794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❓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2960" y="384048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face → fires onDetectWithoutReco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0" y="1097280"/>
            <a:ext cx="4297680" cy="37490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663440" y="11430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Recognition Logic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663440" y="150876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Set 80% confidence threshold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self.faceProxy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.setRecognitionConfidenceThreshold(0.8)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Check if faces present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len(p) &gt; 0 and len(p[1]) &gt; 0: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result = p[1][len(p[1])-1]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result[0] == 4: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Detected but NOT recognized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self.onDetectWithoutReco()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elif result[0] in [2, 3]: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RECOGNIZED — send name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name in result[1]: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self.onRecognizedFace(name)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Boxes — Robot Speech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E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different responses depending on recognition outcome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4023360" cy="3291840"/>
          </a:xfrm>
          <a:prstGeom prst="rect">
            <a:avLst/>
          </a:prstGeom>
          <a:solidFill>
            <a:srgbClr val="06D6A0">
              <a:alpha val="12000"/>
            </a:srgbClr>
          </a:solidFill>
          <a:ln w="254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Say Box — Known Face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920240"/>
            <a:ext cx="3840480" cy="1005840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1938528"/>
            <a:ext cx="3749040" cy="969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onInput_onStart(self, p):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sentence = "Hello " + str(p) +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" I recognize you!"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self.tts.say(sentence)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self.onStopped()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301752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r>
              <a:rPr lang="en-US" sz="1100" dirty="0">
                <a:solidFill>
                  <a:srgbClr val="8E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name string from Face Reco. output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E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Builds: 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"Hello antonio I recognize you!"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8862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Uses ALTextToSpeech to speak aloud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463040"/>
            <a:ext cx="4023360" cy="3291840"/>
          </a:xfrm>
          <a:prstGeom prst="rect">
            <a:avLst/>
          </a:prstGeom>
          <a:solidFill>
            <a:srgbClr val="EF476F">
              <a:alpha val="12000"/>
            </a:srgbClr>
          </a:solidFill>
          <a:ln w="25400">
            <a:solidFill>
              <a:srgbClr val="EF47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46320" y="15087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Say (1) Box — Unknown Face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846320" y="1920240"/>
            <a:ext cx="3840480" cy="1005840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92040" y="1938528"/>
            <a:ext cx="3749040" cy="969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onInput_onStart(self):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sentence = "I see you, but I do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not know your name yet.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Please teach me!"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self.tts.say(sentence)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self.onStopped()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46320" y="301752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parameter needed</a:t>
            </a:r>
            <a:r>
              <a:rPr lang="en-US" sz="1100" dirty="0">
                <a:solidFill>
                  <a:srgbClr val="8E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triggered when face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E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detected but NOT in database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46320" y="38862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Politely invites the person to be learned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18288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Flow Summary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941832"/>
            <a:ext cx="365760" cy="36576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" y="9418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86868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Behavior Starts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121615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E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onStart signal triggers the whole chain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" y="1709928"/>
            <a:ext cx="365760" cy="365760"/>
          </a:xfrm>
          <a:prstGeom prst="ellipse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0040" y="1709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1636776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TextEdit sends "antonio"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198424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E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passed to LearnFace input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2478024"/>
            <a:ext cx="365760" cy="365760"/>
          </a:xfrm>
          <a:prstGeom prst="ellipse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0040" y="247802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77240" y="240487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Only Once — gates the signal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7240" y="2752344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E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repeated learning attempts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3246120"/>
            <a:ext cx="365760" cy="365760"/>
          </a:xfrm>
          <a:prstGeom prst="ellipse">
            <a:avLst/>
          </a:prstGeom>
          <a:solidFill>
            <a:srgbClr val="005F8A"/>
          </a:solidFill>
          <a:ln w="12700">
            <a:solidFill>
              <a:srgbClr val="005F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20040" y="3246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77240" y="317296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⏱️ Wait 5 seconds (Eyes = BLUE 🔵)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77240" y="35204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E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positions their face in front of camera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4014216"/>
            <a:ext cx="365760" cy="365760"/>
          </a:xfrm>
          <a:prstGeom prst="ellipse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20040" y="40142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77240" y="3941064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WaitToSend synchronizes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77240" y="4288536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E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+ timer signal both arrived → proceed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09160" y="941832"/>
            <a:ext cx="365760" cy="365760"/>
          </a:xfrm>
          <a:prstGeom prst="ellipse">
            <a:avLst/>
          </a:prstGeom>
          <a:solidFill>
            <a:srgbClr val="004A70"/>
          </a:solidFill>
          <a:ln w="12700">
            <a:solidFill>
              <a:srgbClr val="004A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709160" y="9418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166360" y="86868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learnFace("antonio") called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166360" y="121615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E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ALFaceDetection captures and stores the face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09160" y="1709928"/>
            <a:ext cx="365760" cy="365760"/>
          </a:xfrm>
          <a:prstGeom prst="ellipse">
            <a:avLst/>
          </a:prstGeom>
          <a:solidFill>
            <a:srgbClr val="006B50"/>
          </a:solidFill>
          <a:ln w="12700">
            <a:solidFill>
              <a:srgbClr val="006B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709160" y="1709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166360" y="1636776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Eyes GREEN ✅ or RED ❌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166360" y="198424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E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feedback of success or failure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09160" y="2478024"/>
            <a:ext cx="365760" cy="365760"/>
          </a:xfrm>
          <a:prstGeom prst="ellipse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709160" y="247802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166360" y="240487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👁️ Face Reco. monitors camera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166360" y="2752344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E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ALMemory FaceDetected event fires continuously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709160" y="3246120"/>
            <a:ext cx="365760" cy="36576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709160" y="3246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166360" y="317296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🔊 Say the result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166360" y="35204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E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"Hello antonio!" or "I don't know you yet"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526280" y="822960"/>
            <a:ext cx="0" cy="4023360"/>
          </a:xfrm>
          <a:prstGeom prst="line">
            <a:avLst/>
          </a:prstGeom>
          <a:noFill/>
          <a:ln w="19050">
            <a:solidFill>
              <a:srgbClr val="E8F4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00B4D8">
              <a:alpha val="20000"/>
            </a:srgbClr>
          </a:solidFill>
          <a:ln w="12700">
            <a:solidFill>
              <a:srgbClr val="00B4D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914400" y="3200400"/>
            <a:ext cx="2743200" cy="2743200"/>
          </a:xfrm>
          <a:prstGeom prst="ellipse">
            <a:avLst/>
          </a:prstGeom>
          <a:solidFill>
            <a:srgbClr val="00B4D8">
              <a:alpha val="18000"/>
            </a:srgbClr>
          </a:solidFill>
          <a:ln w="12700">
            <a:solidFill>
              <a:srgbClr val="00B4D8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0" y="45720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dirty="0">
                <a:solidFill>
                  <a:srgbClr val="000000"/>
                </a:solidFill>
              </a:rPr>
              <a:t>🤖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914400" y="19202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914400" y="269748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Learning &amp; Recognition on NAO/Pepper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32918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E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ALFaceDetection handles all face ML internally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71600" y="36576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E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WaitToSend synchronizes timing perfectly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71600" y="40233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E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80% confidence threshold avoids false positives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371600" y="438912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E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Fully tested and working on real NAO/Pepper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826</Words>
  <Application>Microsoft Office PowerPoint</Application>
  <PresentationFormat>On-screen Show (16:9)</PresentationFormat>
  <Paragraphs>182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Face Learning &amp; Recognition — NAO/Pepper Robot</dc:title>
  <dc:subject>PptxGenJS Presentation</dc:subject>
  <dc:creator>PptxGenJS</dc:creator>
  <cp:lastModifiedBy>Arsen A. Eliane</cp:lastModifiedBy>
  <cp:revision>1</cp:revision>
  <dcterms:created xsi:type="dcterms:W3CDTF">2026-05-09T20:04:19Z</dcterms:created>
  <dcterms:modified xsi:type="dcterms:W3CDTF">2026-05-09T20:46:15Z</dcterms:modified>
</cp:coreProperties>
</file>